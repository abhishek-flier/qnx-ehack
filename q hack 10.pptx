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7696" y="772668"/>
            <a:ext cx="1694687" cy="127253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55235" y="772668"/>
            <a:ext cx="1427987" cy="10911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772668"/>
            <a:ext cx="1842531" cy="11521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522" y="2331206"/>
            <a:ext cx="5507990" cy="345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559" y="2575073"/>
            <a:ext cx="8706485" cy="3883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12112" y="2946886"/>
            <a:ext cx="7752715" cy="28460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4200" spc="-110">
                <a:latin typeface="Tahoma"/>
                <a:cs typeface="Tahoma"/>
              </a:rPr>
              <a:t>Traffic</a:t>
            </a:r>
            <a:r>
              <a:rPr dirty="0" sz="4200" spc="-295">
                <a:latin typeface="Tahoma"/>
                <a:cs typeface="Tahoma"/>
              </a:rPr>
              <a:t> </a:t>
            </a:r>
            <a:r>
              <a:rPr dirty="0" sz="4200" spc="-30">
                <a:latin typeface="Tahoma"/>
                <a:cs typeface="Tahoma"/>
              </a:rPr>
              <a:t>Signal</a:t>
            </a:r>
            <a:r>
              <a:rPr dirty="0" sz="4200" spc="-320">
                <a:latin typeface="Tahoma"/>
                <a:cs typeface="Tahoma"/>
              </a:rPr>
              <a:t> </a:t>
            </a:r>
            <a:r>
              <a:rPr dirty="0" sz="4200">
                <a:latin typeface="Tahoma"/>
                <a:cs typeface="Tahoma"/>
              </a:rPr>
              <a:t>Controller</a:t>
            </a:r>
            <a:r>
              <a:rPr dirty="0" sz="4200" spc="-335">
                <a:latin typeface="Tahoma"/>
                <a:cs typeface="Tahoma"/>
              </a:rPr>
              <a:t> </a:t>
            </a:r>
            <a:r>
              <a:rPr dirty="0" sz="4200" spc="-10">
                <a:latin typeface="Tahoma"/>
                <a:cs typeface="Tahoma"/>
              </a:rPr>
              <a:t>Simulator</a:t>
            </a:r>
            <a:endParaRPr sz="4200">
              <a:latin typeface="Tahoma"/>
              <a:cs typeface="Tahoma"/>
            </a:endParaRPr>
          </a:p>
          <a:p>
            <a:pPr marL="3371215">
              <a:lnSpc>
                <a:spcPct val="100000"/>
              </a:lnSpc>
              <a:spcBef>
                <a:spcPts val="1975"/>
              </a:spcBef>
            </a:pPr>
            <a:r>
              <a:rPr dirty="0" sz="1400" spc="-130" b="1">
                <a:solidFill>
                  <a:srgbClr val="0000FF"/>
                </a:solidFill>
                <a:latin typeface="Tahoma"/>
                <a:cs typeface="Tahoma"/>
              </a:rPr>
              <a:t>Team</a:t>
            </a:r>
            <a:r>
              <a:rPr dirty="0" sz="1400" spc="-9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0000FF"/>
                </a:solidFill>
                <a:latin typeface="Tahoma"/>
                <a:cs typeface="Tahoma"/>
              </a:rPr>
              <a:t>Name:</a:t>
            </a:r>
            <a:endParaRPr sz="1400">
              <a:latin typeface="Tahoma"/>
              <a:cs typeface="Tahoma"/>
            </a:endParaRPr>
          </a:p>
          <a:p>
            <a:pPr marL="2626360" marR="2616835" indent="168910">
              <a:lnSpc>
                <a:spcPct val="122100"/>
              </a:lnSpc>
            </a:pPr>
            <a:r>
              <a:rPr dirty="0" sz="1400" spc="-100">
                <a:solidFill>
                  <a:srgbClr val="0000FF"/>
                </a:solidFill>
                <a:latin typeface="Tahoma"/>
                <a:cs typeface="Tahoma"/>
              </a:rPr>
              <a:t>P.</a:t>
            </a:r>
            <a:r>
              <a:rPr dirty="0" sz="1400" spc="-15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0000FF"/>
                </a:solidFill>
                <a:latin typeface="Tahoma"/>
                <a:cs typeface="Tahoma"/>
              </a:rPr>
              <a:t>Arjun</a:t>
            </a:r>
            <a:r>
              <a:rPr dirty="0" sz="1400" spc="-1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0000FF"/>
                </a:solidFill>
                <a:latin typeface="Tahoma"/>
                <a:cs typeface="Tahoma"/>
              </a:rPr>
              <a:t>Singh</a:t>
            </a:r>
            <a:r>
              <a:rPr dirty="0" sz="1400" spc="9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0000FF"/>
                </a:solidFill>
                <a:latin typeface="Tahoma"/>
                <a:cs typeface="Tahoma"/>
              </a:rPr>
              <a:t>-</a:t>
            </a:r>
            <a:r>
              <a:rPr dirty="0" sz="1400" spc="-1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0000FF"/>
                </a:solidFill>
                <a:latin typeface="Tahoma"/>
                <a:cs typeface="Tahoma"/>
              </a:rPr>
              <a:t>23881A0441 K.Ruchi</a:t>
            </a:r>
            <a:r>
              <a:rPr dirty="0" sz="1400" spc="-6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0000FF"/>
                </a:solidFill>
                <a:latin typeface="Tahoma"/>
                <a:cs typeface="Tahoma"/>
              </a:rPr>
              <a:t>Raangadh</a:t>
            </a:r>
            <a:r>
              <a:rPr dirty="0" sz="1400" spc="-11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0000FF"/>
                </a:solidFill>
                <a:latin typeface="Tahoma"/>
                <a:cs typeface="Tahoma"/>
              </a:rPr>
              <a:t>-</a:t>
            </a:r>
            <a:r>
              <a:rPr dirty="0" sz="1400" spc="-11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0000FF"/>
                </a:solidFill>
                <a:latin typeface="Tahoma"/>
                <a:cs typeface="Tahoma"/>
              </a:rPr>
              <a:t>23881A0420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1400" spc="-30">
                <a:solidFill>
                  <a:srgbClr val="0000FF"/>
                </a:solidFill>
                <a:latin typeface="Tahoma"/>
                <a:cs typeface="Tahoma"/>
              </a:rPr>
              <a:t>I.Abhishek</a:t>
            </a:r>
            <a:r>
              <a:rPr dirty="0" sz="14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0000FF"/>
                </a:solidFill>
                <a:latin typeface="Tahoma"/>
                <a:cs typeface="Tahoma"/>
              </a:rPr>
              <a:t>sai</a:t>
            </a:r>
            <a:r>
              <a:rPr dirty="0" sz="1400" spc="-8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0000FF"/>
                </a:solidFill>
                <a:latin typeface="Tahoma"/>
                <a:cs typeface="Tahoma"/>
              </a:rPr>
              <a:t>-</a:t>
            </a:r>
            <a:r>
              <a:rPr dirty="0" sz="1400" spc="-10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0000FF"/>
                </a:solidFill>
                <a:latin typeface="Tahoma"/>
                <a:cs typeface="Tahoma"/>
              </a:rPr>
              <a:t>23881A0402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dirty="0" sz="1400" spc="-85" b="1">
                <a:solidFill>
                  <a:srgbClr val="FF00FF"/>
                </a:solidFill>
                <a:latin typeface="Tahoma"/>
                <a:cs typeface="Tahoma"/>
              </a:rPr>
              <a:t>Department</a:t>
            </a:r>
            <a:r>
              <a:rPr dirty="0" sz="1400" spc="-100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FF00FF"/>
                </a:solidFill>
                <a:latin typeface="Tahoma"/>
                <a:cs typeface="Tahoma"/>
              </a:rPr>
              <a:t>of</a:t>
            </a:r>
            <a:r>
              <a:rPr dirty="0" sz="1400" spc="-85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25" b="1">
                <a:solidFill>
                  <a:srgbClr val="FF00FF"/>
                </a:solidFill>
                <a:latin typeface="Tahoma"/>
                <a:cs typeface="Tahoma"/>
              </a:rPr>
              <a:t>ECE</a:t>
            </a:r>
            <a:endParaRPr sz="14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  <a:spcBef>
                <a:spcPts val="370"/>
              </a:spcBef>
            </a:pPr>
            <a:r>
              <a:rPr dirty="0" sz="1400" spc="-80" b="1">
                <a:solidFill>
                  <a:srgbClr val="FF00FF"/>
                </a:solidFill>
                <a:latin typeface="Tahoma"/>
                <a:cs typeface="Tahoma"/>
              </a:rPr>
              <a:t>Under</a:t>
            </a:r>
            <a:r>
              <a:rPr dirty="0" sz="1400" spc="-130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35" b="1">
                <a:solidFill>
                  <a:srgbClr val="FF00FF"/>
                </a:solidFill>
                <a:latin typeface="Tahoma"/>
                <a:cs typeface="Tahoma"/>
              </a:rPr>
              <a:t>C-</a:t>
            </a:r>
            <a:r>
              <a:rPr dirty="0" sz="1400" spc="-125" b="1">
                <a:solidFill>
                  <a:srgbClr val="FF00FF"/>
                </a:solidFill>
                <a:latin typeface="Tahoma"/>
                <a:cs typeface="Tahoma"/>
              </a:rPr>
              <a:t>RAISE: </a:t>
            </a:r>
            <a:r>
              <a:rPr dirty="0" sz="1400" spc="-70" b="1">
                <a:solidFill>
                  <a:srgbClr val="FF00FF"/>
                </a:solidFill>
                <a:latin typeface="Tahoma"/>
                <a:cs typeface="Tahoma"/>
              </a:rPr>
              <a:t>Center</a:t>
            </a:r>
            <a:r>
              <a:rPr dirty="0" sz="1400" spc="-125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90" b="1">
                <a:solidFill>
                  <a:srgbClr val="FF00FF"/>
                </a:solidFill>
                <a:latin typeface="Tahoma"/>
                <a:cs typeface="Tahoma"/>
              </a:rPr>
              <a:t>for</a:t>
            </a:r>
            <a:r>
              <a:rPr dirty="0" sz="1400" spc="-125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70" b="1">
                <a:solidFill>
                  <a:srgbClr val="FF00FF"/>
                </a:solidFill>
                <a:latin typeface="Tahoma"/>
                <a:cs typeface="Tahoma"/>
              </a:rPr>
              <a:t>Research</a:t>
            </a:r>
            <a:r>
              <a:rPr dirty="0" sz="1400" spc="-110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85" b="1">
                <a:solidFill>
                  <a:srgbClr val="FF00FF"/>
                </a:solidFill>
                <a:latin typeface="Tahoma"/>
                <a:cs typeface="Tahoma"/>
              </a:rPr>
              <a:t>in</a:t>
            </a:r>
            <a:r>
              <a:rPr dirty="0" sz="1400" spc="-110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70" b="1">
                <a:solidFill>
                  <a:srgbClr val="FF00FF"/>
                </a:solidFill>
                <a:latin typeface="Tahoma"/>
                <a:cs typeface="Tahoma"/>
              </a:rPr>
              <a:t>Automation</a:t>
            </a:r>
            <a:r>
              <a:rPr dirty="0" sz="1400" spc="190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80" b="1">
                <a:solidFill>
                  <a:srgbClr val="FF00FF"/>
                </a:solidFill>
                <a:latin typeface="Tahoma"/>
                <a:cs typeface="Tahoma"/>
              </a:rPr>
              <a:t>and</a:t>
            </a:r>
            <a:r>
              <a:rPr dirty="0" sz="1400" spc="-105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70" b="1">
                <a:solidFill>
                  <a:srgbClr val="FF00FF"/>
                </a:solidFill>
                <a:latin typeface="Tahoma"/>
                <a:cs typeface="Tahoma"/>
              </a:rPr>
              <a:t>Embedded</a:t>
            </a:r>
            <a:r>
              <a:rPr dirty="0" sz="1400" spc="-135" b="1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FF00FF"/>
                </a:solidFill>
                <a:latin typeface="Tahoma"/>
                <a:cs typeface="Tahoma"/>
              </a:rPr>
              <a:t>Systems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50"/>
              </a:spcBef>
            </a:pPr>
            <a:r>
              <a:rPr dirty="0" sz="1400" spc="-95" b="1">
                <a:solidFill>
                  <a:srgbClr val="0070BF"/>
                </a:solidFill>
                <a:latin typeface="Tahoma"/>
                <a:cs typeface="Tahoma"/>
              </a:rPr>
              <a:t>Vardhaman</a:t>
            </a:r>
            <a:r>
              <a:rPr dirty="0" sz="1400" spc="-105" b="1">
                <a:solidFill>
                  <a:srgbClr val="0070BF"/>
                </a:solidFill>
                <a:latin typeface="Tahoma"/>
                <a:cs typeface="Tahoma"/>
              </a:rPr>
              <a:t> </a:t>
            </a:r>
            <a:r>
              <a:rPr dirty="0" sz="1400" spc="-55" b="1">
                <a:solidFill>
                  <a:srgbClr val="0070BF"/>
                </a:solidFill>
                <a:latin typeface="Tahoma"/>
                <a:cs typeface="Tahoma"/>
              </a:rPr>
              <a:t>College</a:t>
            </a:r>
            <a:r>
              <a:rPr dirty="0" sz="1400" spc="-100" b="1">
                <a:solidFill>
                  <a:srgbClr val="0070BF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0070BF"/>
                </a:solidFill>
                <a:latin typeface="Tahoma"/>
                <a:cs typeface="Tahoma"/>
              </a:rPr>
              <a:t>of</a:t>
            </a:r>
            <a:r>
              <a:rPr dirty="0" sz="1400" spc="-65" b="1">
                <a:solidFill>
                  <a:srgbClr val="0070BF"/>
                </a:solidFill>
                <a:latin typeface="Tahoma"/>
                <a:cs typeface="Tahoma"/>
              </a:rPr>
              <a:t> </a:t>
            </a:r>
            <a:r>
              <a:rPr dirty="0" sz="1400" spc="-90" b="1">
                <a:solidFill>
                  <a:srgbClr val="0070BF"/>
                </a:solidFill>
                <a:latin typeface="Tahoma"/>
                <a:cs typeface="Tahoma"/>
              </a:rPr>
              <a:t>Engineering,</a:t>
            </a:r>
            <a:r>
              <a:rPr dirty="0" sz="1400" spc="-120" b="1">
                <a:solidFill>
                  <a:srgbClr val="0070B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0070BF"/>
                </a:solidFill>
                <a:latin typeface="Tahoma"/>
                <a:cs typeface="Tahoma"/>
              </a:rPr>
              <a:t>Hyderabad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7696" y="772668"/>
            <a:ext cx="1694687" cy="127253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1332" y="833627"/>
            <a:ext cx="1427987" cy="10911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76922" y="2078271"/>
            <a:ext cx="1783080" cy="559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b="0">
                <a:solidFill>
                  <a:srgbClr val="FF0000"/>
                </a:solidFill>
                <a:latin typeface="Calibri"/>
                <a:cs typeface="Calibri"/>
              </a:rPr>
              <a:t>Q- </a:t>
            </a:r>
            <a:r>
              <a:rPr dirty="0" sz="3500" spc="-10" b="0">
                <a:solidFill>
                  <a:srgbClr val="FF0000"/>
                </a:solidFill>
                <a:latin typeface="Calibri"/>
                <a:cs typeface="Calibri"/>
              </a:rPr>
              <a:t>eHACK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72668"/>
            <a:ext cx="1842531" cy="115214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52358" y="6420121"/>
            <a:ext cx="9683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898989"/>
                </a:solidFill>
                <a:latin typeface="Calibri"/>
                <a:cs typeface="Calibri"/>
              </a:rPr>
              <a:t>Date:11/03/2026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830" y="1973090"/>
            <a:ext cx="246570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Problem</a:t>
            </a:r>
            <a:r>
              <a:rPr dirty="0" spc="-135"/>
              <a:t> </a:t>
            </a:r>
            <a:r>
              <a:rPr dirty="0" spc="-110"/>
              <a:t>Statement: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0532" y="2299155"/>
            <a:ext cx="8121650" cy="41287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133985">
              <a:lnSpc>
                <a:spcPct val="102600"/>
              </a:lnSpc>
              <a:spcBef>
                <a:spcPts val="85"/>
              </a:spcBef>
            </a:pPr>
            <a:r>
              <a:rPr dirty="0" sz="1550">
                <a:latin typeface="Calibri"/>
                <a:cs typeface="Calibri"/>
              </a:rPr>
              <a:t>Urban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congestion is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increasing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rapidly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due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growing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vehicle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population.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Traditional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traffic </a:t>
            </a:r>
            <a:r>
              <a:rPr dirty="0" sz="1550">
                <a:latin typeface="Calibri"/>
                <a:cs typeface="Calibri"/>
              </a:rPr>
              <a:t>signals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operate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fixed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timers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cannot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adapt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real-time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conditions.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Target</a:t>
            </a:r>
            <a:r>
              <a:rPr dirty="0" u="sng" sz="1200" spc="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Users /</a:t>
            </a:r>
            <a:r>
              <a:rPr dirty="0" u="sng" sz="1200" spc="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Industry</a:t>
            </a:r>
            <a:r>
              <a:rPr dirty="0" u="sng" sz="1200" spc="7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Sector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Smart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city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Transportation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authorities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Why</a:t>
            </a:r>
            <a:r>
              <a:rPr dirty="0" u="sng" sz="120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This</a:t>
            </a:r>
            <a:r>
              <a:rPr dirty="0" u="sng" sz="1200" spc="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</a:t>
            </a:r>
            <a:r>
              <a:rPr dirty="0" u="sng" sz="120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dirty="0" u="sng" sz="1200" spc="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Important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Causes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traffic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congestion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delays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Increases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fuel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consumption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pollution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Slows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emergency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vehicles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Current</a:t>
            </a:r>
            <a:r>
              <a:rPr dirty="0" u="sng" sz="1200" spc="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Challenges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Fixed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signal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timing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regardless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traffic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density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coordination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intersections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Proposed</a:t>
            </a:r>
            <a:r>
              <a:rPr dirty="0" u="sng" sz="1200" spc="9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endParaRPr sz="1200">
              <a:latin typeface="Calibri"/>
              <a:cs typeface="Calibri"/>
            </a:endParaRPr>
          </a:p>
          <a:p>
            <a:pPr marL="231775" marR="5080">
              <a:lnSpc>
                <a:spcPct val="102499"/>
              </a:lnSpc>
            </a:pP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Traffic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Signal</a:t>
            </a:r>
            <a:r>
              <a:rPr dirty="0" sz="1200" spc="9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Simulator</a:t>
            </a:r>
            <a:r>
              <a:rPr dirty="0" sz="1200" spc="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using</a:t>
            </a:r>
            <a:r>
              <a:rPr dirty="0" sz="1200" spc="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QNX</a:t>
            </a:r>
            <a:r>
              <a:rPr dirty="0" sz="1200" spc="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RTOS</a:t>
            </a:r>
            <a:r>
              <a:rPr dirty="0" sz="1200" spc="5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adjusts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signal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timing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simulated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traffic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density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events.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Goals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Simulate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real-time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traffic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signal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</a:t>
            </a:r>
            <a:endParaRPr sz="120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200">
                <a:latin typeface="Calibri"/>
                <a:cs typeface="Calibri"/>
              </a:rPr>
              <a:t>Demonstrate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real-time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scheduling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QNX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1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Expected</a:t>
            </a:r>
            <a:r>
              <a:rPr dirty="0" u="sng" sz="1200" spc="8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Outcomes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Efficient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traffic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simulation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200">
                <a:latin typeface="Calibri"/>
                <a:cs typeface="Calibri"/>
              </a:rPr>
              <a:t>Demonstration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real-time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embedded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design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682" y="1930376"/>
            <a:ext cx="528383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Technical</a:t>
            </a:r>
            <a:r>
              <a:rPr dirty="0" spc="-160"/>
              <a:t> </a:t>
            </a:r>
            <a:r>
              <a:rPr dirty="0" spc="-114"/>
              <a:t>Approach</a:t>
            </a:r>
            <a:r>
              <a:rPr dirty="0" spc="-135"/>
              <a:t> </a:t>
            </a:r>
            <a:r>
              <a:rPr dirty="0" spc="-165"/>
              <a:t>G</a:t>
            </a:r>
            <a:r>
              <a:rPr dirty="0" spc="-155"/>
              <a:t> </a:t>
            </a:r>
            <a:r>
              <a:rPr dirty="0" spc="-125"/>
              <a:t>ǪNX</a:t>
            </a:r>
            <a:r>
              <a:rPr dirty="0" spc="-140"/>
              <a:t> </a:t>
            </a:r>
            <a:r>
              <a:rPr dirty="0" spc="-175"/>
              <a:t>RTOS</a:t>
            </a:r>
            <a:r>
              <a:rPr dirty="0" spc="-114"/>
              <a:t> </a:t>
            </a:r>
            <a:r>
              <a:rPr dirty="0" spc="-75"/>
              <a:t>Relevance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1646" y="2308938"/>
            <a:ext cx="3198495" cy="306768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550" b="1">
                <a:latin typeface="Calibri"/>
                <a:cs typeface="Calibri"/>
              </a:rPr>
              <a:t>Hardware</a:t>
            </a:r>
            <a:r>
              <a:rPr dirty="0" sz="1550" spc="1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Components:</a:t>
            </a:r>
            <a:endParaRPr sz="155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11785" algn="l"/>
              </a:tabLst>
            </a:pPr>
            <a:r>
              <a:rPr dirty="0" sz="1550">
                <a:latin typeface="Calibri"/>
                <a:cs typeface="Calibri"/>
              </a:rPr>
              <a:t>Raspberry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Pi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 spc="-50">
                <a:latin typeface="Calibri"/>
                <a:cs typeface="Calibri"/>
              </a:rPr>
              <a:t>4</a:t>
            </a:r>
            <a:endParaRPr sz="155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11785" algn="l"/>
              </a:tabLst>
            </a:pPr>
            <a:r>
              <a:rPr dirty="0" sz="1550">
                <a:latin typeface="Calibri"/>
                <a:cs typeface="Calibri"/>
              </a:rPr>
              <a:t>Raspberry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Pi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camera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rv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1.3</a:t>
            </a:r>
            <a:endParaRPr sz="155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311785" algn="l"/>
              </a:tabLst>
            </a:pPr>
            <a:r>
              <a:rPr dirty="0" sz="1550">
                <a:latin typeface="Calibri"/>
                <a:cs typeface="Calibri"/>
              </a:rPr>
              <a:t>Power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supply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connecting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wires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550" b="1">
                <a:latin typeface="Calibri"/>
                <a:cs typeface="Calibri"/>
              </a:rPr>
              <a:t>Software</a:t>
            </a:r>
            <a:r>
              <a:rPr dirty="0" sz="1550" spc="1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Components</a:t>
            </a:r>
            <a:endParaRPr sz="155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311785" algn="l"/>
              </a:tabLst>
            </a:pPr>
            <a:r>
              <a:rPr dirty="0" sz="1550">
                <a:latin typeface="Calibri"/>
                <a:cs typeface="Calibri"/>
              </a:rPr>
              <a:t>QNX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RTOS</a:t>
            </a:r>
            <a:endParaRPr sz="155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311785" algn="l"/>
              </a:tabLst>
            </a:pPr>
            <a:r>
              <a:rPr dirty="0" sz="1550">
                <a:latin typeface="Calibri"/>
                <a:cs typeface="Calibri"/>
              </a:rPr>
              <a:t>Embedded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programs</a:t>
            </a:r>
            <a:endParaRPr sz="155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311785" algn="l"/>
              </a:tabLst>
            </a:pPr>
            <a:r>
              <a:rPr dirty="0" sz="1550">
                <a:latin typeface="Calibri"/>
                <a:cs typeface="Calibri"/>
              </a:rPr>
              <a:t>Priority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algorithm</a:t>
            </a:r>
            <a:endParaRPr sz="1550">
              <a:latin typeface="Calibri"/>
              <a:cs typeface="Calibri"/>
            </a:endParaRPr>
          </a:p>
          <a:p>
            <a:pPr marL="311785" indent="-299085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311785" algn="l"/>
              </a:tabLst>
            </a:pPr>
            <a:r>
              <a:rPr dirty="0" sz="1550">
                <a:latin typeface="Calibri"/>
                <a:cs typeface="Calibri"/>
              </a:rPr>
              <a:t>Threading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Library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43563" y="2378424"/>
            <a:ext cx="185547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latin typeface="Calibri"/>
                <a:cs typeface="Calibri"/>
              </a:rPr>
              <a:t>Algorithm</a:t>
            </a:r>
            <a:r>
              <a:rPr dirty="0" sz="1550" spc="10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/</a:t>
            </a:r>
            <a:r>
              <a:rPr dirty="0" sz="1550" spc="5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Workflow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43563" y="2619825"/>
            <a:ext cx="2937510" cy="166560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213360" indent="-20066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Input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Collection.</a:t>
            </a:r>
            <a:endParaRPr sz="155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Priority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Evaluation.</a:t>
            </a:r>
            <a:endParaRPr sz="155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Lane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Selection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 spc="-50">
                <a:latin typeface="Calibri"/>
                <a:cs typeface="Calibri"/>
              </a:rPr>
              <a:t>.</a:t>
            </a:r>
            <a:endParaRPr sz="155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Signal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Execution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(Multithreading)</a:t>
            </a:r>
            <a:endParaRPr sz="155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Cycle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Repeat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43563" y="4673582"/>
            <a:ext cx="236855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latin typeface="Calibri"/>
                <a:cs typeface="Calibri"/>
              </a:rPr>
              <a:t>Why QNX</a:t>
            </a:r>
            <a:r>
              <a:rPr dirty="0" sz="1550" spc="-15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RTOS</a:t>
            </a:r>
            <a:r>
              <a:rPr dirty="0" sz="1550" spc="20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Was</a:t>
            </a:r>
            <a:r>
              <a:rPr dirty="0" sz="1550" spc="2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Chosen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43563" y="4914982"/>
            <a:ext cx="3485515" cy="10083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213360" indent="-20066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Real-time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task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scheduling</a:t>
            </a:r>
            <a:endParaRPr sz="155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High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reliability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industrial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systems</a:t>
            </a:r>
            <a:endParaRPr sz="155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Supports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multitasking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fast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response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07157" y="2113984"/>
            <a:ext cx="4304665" cy="4507865"/>
            <a:chOff x="3107157" y="2113984"/>
            <a:chExt cx="4304665" cy="45078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7157" y="2113984"/>
              <a:ext cx="3824272" cy="410443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1484" y="5864352"/>
              <a:ext cx="3919727" cy="7574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541" y="1980643"/>
            <a:ext cx="285369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Innovation</a:t>
            </a:r>
            <a:r>
              <a:rPr dirty="0" spc="-135"/>
              <a:t> </a:t>
            </a:r>
            <a:r>
              <a:rPr dirty="0" spc="-165"/>
              <a:t>G</a:t>
            </a:r>
            <a:r>
              <a:rPr dirty="0" spc="-125"/>
              <a:t> </a:t>
            </a:r>
            <a:r>
              <a:rPr dirty="0" spc="-105"/>
              <a:t>Originality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Novelty:</a:t>
            </a:r>
          </a:p>
          <a:p>
            <a:pPr marL="12700" marR="5080">
              <a:lnSpc>
                <a:spcPct val="101299"/>
              </a:lnSpc>
              <a:spcBef>
                <a:spcPts val="15"/>
              </a:spcBef>
            </a:pPr>
            <a:r>
              <a:rPr dirty="0" b="0">
                <a:latin typeface="Calibri"/>
                <a:cs typeface="Calibri"/>
              </a:rPr>
              <a:t>The</a:t>
            </a:r>
            <a:r>
              <a:rPr dirty="0" spc="6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proposed</a:t>
            </a:r>
            <a:r>
              <a:rPr dirty="0" spc="4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system</a:t>
            </a:r>
            <a:r>
              <a:rPr dirty="0" spc="1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simulates</a:t>
            </a:r>
            <a:r>
              <a:rPr dirty="0" spc="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</a:t>
            </a:r>
            <a:r>
              <a:rPr dirty="0" spc="75" b="0">
                <a:latin typeface="Calibri"/>
                <a:cs typeface="Calibri"/>
              </a:rPr>
              <a:t> </a:t>
            </a:r>
            <a:r>
              <a:rPr dirty="0"/>
              <a:t>real-time</a:t>
            </a:r>
            <a:r>
              <a:rPr dirty="0" spc="40"/>
              <a:t> </a:t>
            </a:r>
            <a:r>
              <a:rPr dirty="0"/>
              <a:t>adaptive</a:t>
            </a:r>
            <a:r>
              <a:rPr dirty="0" spc="40"/>
              <a:t> </a:t>
            </a:r>
            <a:r>
              <a:rPr dirty="0"/>
              <a:t>traffic</a:t>
            </a:r>
            <a:r>
              <a:rPr dirty="0" spc="105"/>
              <a:t> </a:t>
            </a:r>
            <a:r>
              <a:rPr dirty="0"/>
              <a:t>signal</a:t>
            </a:r>
            <a:r>
              <a:rPr dirty="0" spc="40"/>
              <a:t> </a:t>
            </a:r>
            <a:r>
              <a:rPr dirty="0"/>
              <a:t>system</a:t>
            </a:r>
            <a:r>
              <a:rPr dirty="0" spc="25"/>
              <a:t> </a:t>
            </a:r>
            <a:r>
              <a:rPr dirty="0"/>
              <a:t>using</a:t>
            </a:r>
            <a:r>
              <a:rPr dirty="0" spc="40"/>
              <a:t> </a:t>
            </a:r>
            <a:r>
              <a:rPr dirty="0"/>
              <a:t>QNX</a:t>
            </a:r>
            <a:r>
              <a:rPr dirty="0" spc="45"/>
              <a:t> </a:t>
            </a:r>
            <a:r>
              <a:rPr dirty="0"/>
              <a:t>RTOS</a:t>
            </a:r>
            <a:r>
              <a:rPr dirty="0" b="0">
                <a:latin typeface="Calibri"/>
                <a:cs typeface="Calibri"/>
              </a:rPr>
              <a:t>,</a:t>
            </a:r>
            <a:r>
              <a:rPr dirty="0" spc="7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demonstrating </a:t>
            </a:r>
            <a:r>
              <a:rPr dirty="0" b="0">
                <a:latin typeface="Calibri"/>
                <a:cs typeface="Calibri"/>
              </a:rPr>
              <a:t>embedded</a:t>
            </a:r>
            <a:r>
              <a:rPr dirty="0" spc="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real-time</a:t>
            </a:r>
            <a:r>
              <a:rPr dirty="0" spc="7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control</a:t>
            </a:r>
            <a:r>
              <a:rPr dirty="0" spc="4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in</a:t>
            </a:r>
            <a:r>
              <a:rPr dirty="0" spc="4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urban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traffic</a:t>
            </a:r>
            <a:r>
              <a:rPr dirty="0" spc="5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management.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-10"/>
              <a:t>Uniqueness:</a:t>
            </a:r>
          </a:p>
          <a:p>
            <a:pPr marL="262255" indent="-24955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62255" algn="l"/>
              </a:tabLst>
            </a:pPr>
            <a:r>
              <a:rPr dirty="0" b="0">
                <a:latin typeface="Calibri"/>
                <a:cs typeface="Calibri"/>
              </a:rPr>
              <a:t>Uses</a:t>
            </a:r>
            <a:r>
              <a:rPr dirty="0" spc="2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QNX</a:t>
            </a:r>
            <a:r>
              <a:rPr dirty="0" spc="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on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Raspberry</a:t>
            </a:r>
            <a:r>
              <a:rPr dirty="0" spc="3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Pi</a:t>
            </a:r>
            <a:r>
              <a:rPr dirty="0" spc="3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4</a:t>
            </a:r>
            <a:r>
              <a:rPr dirty="0" spc="4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for</a:t>
            </a:r>
            <a:r>
              <a:rPr dirty="0" spc="4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reliable</a:t>
            </a:r>
            <a:r>
              <a:rPr dirty="0" spc="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real-time</a:t>
            </a:r>
            <a:r>
              <a:rPr dirty="0" spc="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priority</a:t>
            </a:r>
            <a:r>
              <a:rPr dirty="0" spc="3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maintenance.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Difference</a:t>
            </a:r>
            <a:r>
              <a:rPr dirty="0" spc="10"/>
              <a:t> </a:t>
            </a:r>
            <a:r>
              <a:rPr dirty="0"/>
              <a:t>from</a:t>
            </a:r>
            <a:r>
              <a:rPr dirty="0" spc="45"/>
              <a:t> </a:t>
            </a:r>
            <a:r>
              <a:rPr dirty="0"/>
              <a:t>Existing</a:t>
            </a:r>
            <a:r>
              <a:rPr dirty="0" spc="65"/>
              <a:t> </a:t>
            </a:r>
            <a:r>
              <a:rPr dirty="0" spc="-10"/>
              <a:t>Systems:</a:t>
            </a:r>
          </a:p>
          <a:p>
            <a:pPr marL="22860">
              <a:lnSpc>
                <a:spcPct val="100000"/>
              </a:lnSpc>
            </a:pPr>
            <a:r>
              <a:rPr dirty="0" u="sng" b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Traditional</a:t>
            </a:r>
            <a:r>
              <a:rPr dirty="0" u="sng" spc="-35" b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pc="-10" b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systems</a:t>
            </a:r>
            <a:r>
              <a:rPr dirty="0" spc="-10" b="0">
                <a:latin typeface="Calibri"/>
                <a:cs typeface="Calibri"/>
              </a:rPr>
              <a:t>:</a:t>
            </a:r>
          </a:p>
          <a:p>
            <a:pPr marL="22860" marR="6956425" indent="21971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b="0">
                <a:latin typeface="Calibri"/>
                <a:cs typeface="Calibri"/>
              </a:rPr>
              <a:t>Fixed</a:t>
            </a:r>
            <a:r>
              <a:rPr dirty="0" spc="5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signal</a:t>
            </a:r>
            <a:r>
              <a:rPr dirty="0" spc="7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timing </a:t>
            </a:r>
            <a:r>
              <a:rPr dirty="0" u="sng" b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Proposed</a:t>
            </a:r>
            <a:r>
              <a:rPr dirty="0" u="sng" spc="95" b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pc="-10" b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</a:t>
            </a:r>
            <a:r>
              <a:rPr dirty="0" spc="-10" b="0">
                <a:latin typeface="Calibri"/>
                <a:cs typeface="Calibri"/>
              </a:rPr>
              <a:t>:</a:t>
            </a:r>
          </a:p>
          <a:p>
            <a:pPr marL="242570" indent="-21971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b="0">
                <a:latin typeface="Calibri"/>
                <a:cs typeface="Calibri"/>
              </a:rPr>
              <a:t>Signal</a:t>
            </a:r>
            <a:r>
              <a:rPr dirty="0" spc="7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changes</a:t>
            </a:r>
            <a:r>
              <a:rPr dirty="0" spc="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exactly</a:t>
            </a:r>
            <a:r>
              <a:rPr dirty="0" spc="10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at</a:t>
            </a:r>
            <a:r>
              <a:rPr dirty="0" spc="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the</a:t>
            </a:r>
            <a:r>
              <a:rPr dirty="0" spc="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required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time</a:t>
            </a:r>
          </a:p>
          <a:p>
            <a:pPr marL="242570" indent="-21971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b="0">
                <a:latin typeface="Calibri"/>
                <a:cs typeface="Calibri"/>
              </a:rPr>
              <a:t>Suitable</a:t>
            </a:r>
            <a:r>
              <a:rPr dirty="0" spc="8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for</a:t>
            </a:r>
            <a:r>
              <a:rPr dirty="0" spc="1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real</a:t>
            </a:r>
            <a:r>
              <a:rPr dirty="0" spc="2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world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traffic</a:t>
            </a:r>
            <a:r>
              <a:rPr dirty="0" spc="5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control</a:t>
            </a: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Key Innovation</a:t>
            </a:r>
            <a:r>
              <a:rPr dirty="0" spc="-50"/>
              <a:t> </a:t>
            </a:r>
            <a:r>
              <a:rPr dirty="0" spc="-10"/>
              <a:t>Points:</a:t>
            </a:r>
          </a:p>
          <a:p>
            <a:pPr marL="242570" indent="-21971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b="0">
                <a:latin typeface="Calibri"/>
                <a:cs typeface="Calibri"/>
              </a:rPr>
              <a:t>Real-time</a:t>
            </a:r>
            <a:r>
              <a:rPr dirty="0" spc="10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traffic</a:t>
            </a:r>
            <a:r>
              <a:rPr dirty="0" spc="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density</a:t>
            </a:r>
            <a:r>
              <a:rPr dirty="0" spc="8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analysis</a:t>
            </a:r>
          </a:p>
          <a:p>
            <a:pPr marL="242570" indent="-21971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b="0">
                <a:latin typeface="Calibri"/>
                <a:cs typeface="Calibri"/>
              </a:rPr>
              <a:t>Priority</a:t>
            </a:r>
            <a:r>
              <a:rPr dirty="0" spc="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handling</a:t>
            </a:r>
            <a:r>
              <a:rPr dirty="0" spc="1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for</a:t>
            </a:r>
            <a:r>
              <a:rPr dirty="0" spc="8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emergency</a:t>
            </a:r>
            <a:r>
              <a:rPr dirty="0" spc="9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vehicles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Smart</a:t>
            </a:r>
            <a:r>
              <a:rPr dirty="0" spc="45"/>
              <a:t> </a:t>
            </a:r>
            <a:r>
              <a:rPr dirty="0" spc="-10"/>
              <a:t>Features:</a:t>
            </a:r>
          </a:p>
          <a:p>
            <a:pPr marL="262255" indent="-24955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62255" algn="l"/>
              </a:tabLst>
            </a:pPr>
            <a:r>
              <a:rPr dirty="0" b="0">
                <a:latin typeface="Calibri"/>
                <a:cs typeface="Calibri"/>
              </a:rPr>
              <a:t>Emergency</a:t>
            </a:r>
            <a:r>
              <a:rPr dirty="0" spc="12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vehicle</a:t>
            </a:r>
            <a:r>
              <a:rPr dirty="0" spc="13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priority</a:t>
            </a:r>
            <a:r>
              <a:rPr dirty="0" spc="10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override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522" y="2331206"/>
            <a:ext cx="550799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Impact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Industry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Relevance</a:t>
            </a:r>
            <a:r>
              <a:rPr dirty="0" spc="-1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Industry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Application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7187" y="2666522"/>
            <a:ext cx="3987800" cy="3874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5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Industry</a:t>
            </a:r>
            <a:r>
              <a:rPr dirty="0" u="sng" sz="15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Applications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Smart city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traffic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management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systems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Automotive embedded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software </a:t>
            </a:r>
            <a:r>
              <a:rPr dirty="0" sz="1550" spc="-10">
                <a:latin typeface="Calibri"/>
                <a:cs typeface="Calibri"/>
              </a:rPr>
              <a:t>development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Urban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infrastructure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planning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15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Industries</a:t>
            </a:r>
            <a:r>
              <a:rPr dirty="0" u="sng" sz="1550" spc="-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Benefiting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Automotive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mobility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sector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Smart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city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technology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providers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Embedded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systems</a:t>
            </a:r>
            <a:r>
              <a:rPr dirty="0" sz="1550" spc="-3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companies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sng" sz="15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Impact</a:t>
            </a:r>
            <a:r>
              <a:rPr dirty="0" u="sng" sz="1550" spc="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Improved </a:t>
            </a:r>
            <a:r>
              <a:rPr dirty="0" sz="1550" spc="-10">
                <a:latin typeface="Calibri"/>
                <a:cs typeface="Calibri"/>
              </a:rPr>
              <a:t>traffic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flow</a:t>
            </a:r>
            <a:r>
              <a:rPr dirty="0" sz="1550" spc="-2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efficiency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Reduced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congestion</a:t>
            </a:r>
            <a:r>
              <a:rPr dirty="0" sz="1550" spc="-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travel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time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Better</a:t>
            </a:r>
            <a:r>
              <a:rPr dirty="0" sz="1550" spc="-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emergency vehicle</a:t>
            </a:r>
            <a:r>
              <a:rPr dirty="0" sz="1550" spc="-2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movement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u="sng" sz="15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Future </a:t>
            </a:r>
            <a:r>
              <a:rPr dirty="0" u="sng" sz="15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Scope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 spc="-10">
                <a:latin typeface="Calibri"/>
                <a:cs typeface="Calibri"/>
              </a:rPr>
              <a:t>Integration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with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AI-</a:t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traffic</a:t>
            </a:r>
            <a:r>
              <a:rPr dirty="0" sz="155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prediction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 spc="-10">
                <a:latin typeface="Calibri"/>
                <a:cs typeface="Calibri"/>
              </a:rPr>
              <a:t>Real-</a:t>
            </a:r>
            <a:r>
              <a:rPr dirty="0" sz="1550">
                <a:latin typeface="Calibri"/>
                <a:cs typeface="Calibri"/>
              </a:rPr>
              <a:t>time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camera-</a:t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vehicle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detection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 spc="-10">
                <a:latin typeface="Calibri"/>
                <a:cs typeface="Calibri"/>
              </a:rPr>
              <a:t>Integration</a:t>
            </a:r>
            <a:r>
              <a:rPr dirty="0" sz="1550" spc="-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with IoT traffic</a:t>
            </a:r>
            <a:r>
              <a:rPr dirty="0" sz="1550" spc="-2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sensors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794" y="1931939"/>
            <a:ext cx="291909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Demo</a:t>
            </a:r>
            <a:r>
              <a:rPr dirty="0" spc="-145"/>
              <a:t> </a:t>
            </a:r>
            <a:r>
              <a:rPr dirty="0" spc="-415"/>
              <a:t>/</a:t>
            </a:r>
            <a:r>
              <a:rPr dirty="0" spc="-175"/>
              <a:t> </a:t>
            </a:r>
            <a:r>
              <a:rPr dirty="0" spc="-125"/>
              <a:t>Implementation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824" y="2267782"/>
            <a:ext cx="3598545" cy="318071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10"/>
              </a:spcBef>
            </a:pPr>
            <a:r>
              <a:rPr dirty="0" sz="1550" b="1">
                <a:latin typeface="Calibri"/>
                <a:cs typeface="Calibri"/>
              </a:rPr>
              <a:t>Prototype</a:t>
            </a:r>
            <a:r>
              <a:rPr dirty="0" sz="1550" spc="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Demonstration</a:t>
            </a:r>
            <a:endParaRPr sz="1550">
              <a:latin typeface="Calibri"/>
              <a:cs typeface="Calibri"/>
            </a:endParaRPr>
          </a:p>
          <a:p>
            <a:pPr algn="just" marL="210820" marR="5080" indent="-198755">
              <a:lnSpc>
                <a:spcPts val="1700"/>
              </a:lnSpc>
              <a:spcBef>
                <a:spcPts val="91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22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working</a:t>
            </a:r>
            <a:r>
              <a:rPr dirty="0" sz="1550" spc="22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prototype</a:t>
            </a:r>
            <a:r>
              <a:rPr dirty="0" sz="1550" spc="22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225">
                <a:latin typeface="Calibri"/>
                <a:cs typeface="Calibri"/>
              </a:rPr>
              <a:t>  </a:t>
            </a:r>
            <a:r>
              <a:rPr dirty="0" sz="1550" spc="-10">
                <a:latin typeface="Calibri"/>
                <a:cs typeface="Calibri"/>
              </a:rPr>
              <a:t>implemented </a:t>
            </a:r>
            <a:r>
              <a:rPr dirty="0" sz="1550" spc="-10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120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Raspberry</a:t>
            </a:r>
            <a:r>
              <a:rPr dirty="0" sz="1550" spc="130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Pi</a:t>
            </a:r>
            <a:r>
              <a:rPr dirty="0" sz="1550" spc="12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4</a:t>
            </a:r>
            <a:r>
              <a:rPr dirty="0" sz="1550" spc="13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running</a:t>
            </a:r>
            <a:r>
              <a:rPr dirty="0" sz="1550" spc="135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QNX</a:t>
            </a:r>
            <a:r>
              <a:rPr dirty="0" sz="1550" spc="125">
                <a:latin typeface="Calibri"/>
                <a:cs typeface="Calibri"/>
              </a:rPr>
              <a:t>  </a:t>
            </a:r>
            <a:r>
              <a:rPr dirty="0" sz="1550" spc="-25">
                <a:latin typeface="Calibri"/>
                <a:cs typeface="Calibri"/>
              </a:rPr>
              <a:t>to </a:t>
            </a:r>
            <a:r>
              <a:rPr dirty="0" sz="1550" spc="-25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implement</a:t>
            </a:r>
            <a:r>
              <a:rPr dirty="0" sz="1550" spc="114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priority</a:t>
            </a:r>
            <a:r>
              <a:rPr dirty="0" sz="1550" spc="114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120">
                <a:latin typeface="Calibri"/>
                <a:cs typeface="Calibri"/>
              </a:rPr>
              <a:t> 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110">
                <a:latin typeface="Calibri"/>
                <a:cs typeface="Calibri"/>
              </a:rPr>
              <a:t>  </a:t>
            </a:r>
            <a:r>
              <a:rPr dirty="0" sz="1550" spc="-10">
                <a:latin typeface="Calibri"/>
                <a:cs typeface="Calibri"/>
              </a:rPr>
              <a:t>signal 	controller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latin typeface="Calibri"/>
                <a:cs typeface="Calibri"/>
              </a:rPr>
              <a:t>Working Model</a:t>
            </a:r>
            <a:r>
              <a:rPr dirty="0" sz="1550" spc="1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Explanation</a:t>
            </a:r>
            <a:endParaRPr sz="1550">
              <a:latin typeface="Calibri"/>
              <a:cs typeface="Calibri"/>
            </a:endParaRPr>
          </a:p>
          <a:p>
            <a:pPr marL="213360" marR="97155" indent="-201295">
              <a:lnSpc>
                <a:spcPts val="1700"/>
              </a:lnSpc>
              <a:spcBef>
                <a:spcPts val="910"/>
              </a:spcBef>
              <a:buFont typeface="Arial MT"/>
              <a:buChar char="•"/>
              <a:tabLst>
                <a:tab pos="213360" algn="l"/>
              </a:tabLst>
            </a:pPr>
            <a:r>
              <a:rPr dirty="0" sz="1550">
                <a:latin typeface="Calibri"/>
                <a:cs typeface="Calibri"/>
              </a:rPr>
              <a:t>Raspberry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Pi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camera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rv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1.3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detects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the </a:t>
            </a:r>
            <a:r>
              <a:rPr dirty="0" sz="1550">
                <a:latin typeface="Calibri"/>
                <a:cs typeface="Calibri"/>
              </a:rPr>
              <a:t>vehicle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with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help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of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A.I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all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4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lanes,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decides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priority.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Execution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of </a:t>
            </a:r>
            <a:r>
              <a:rPr dirty="0" sz="1550">
                <a:latin typeface="Calibri"/>
                <a:cs typeface="Calibri"/>
              </a:rPr>
              <a:t>lane</a:t>
            </a:r>
            <a:r>
              <a:rPr dirty="0" sz="1550" spc="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performed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priority </a:t>
            </a:r>
            <a:r>
              <a:rPr dirty="0" sz="1550">
                <a:latin typeface="Calibri"/>
                <a:cs typeface="Calibri"/>
              </a:rPr>
              <a:t>scheduled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by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algorithm.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8676" y="2680716"/>
            <a:ext cx="4555235" cy="3204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9789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Presentation</a:t>
            </a:r>
            <a:r>
              <a:rPr dirty="0" spc="-114"/>
              <a:t> </a:t>
            </a:r>
            <a:r>
              <a:rPr dirty="0" spc="-165"/>
              <a:t>G</a:t>
            </a:r>
            <a:r>
              <a:rPr dirty="0" spc="-145"/>
              <a:t> </a:t>
            </a:r>
            <a:r>
              <a:rPr dirty="0" spc="-95"/>
              <a:t>Documentation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11987" y="2965243"/>
            <a:ext cx="3536950" cy="2162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Tahoma"/>
                <a:cs typeface="Tahoma"/>
              </a:rPr>
              <a:t>Ǫuality</a:t>
            </a:r>
            <a:r>
              <a:rPr dirty="0" sz="1750" spc="-200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Repository</a:t>
            </a:r>
            <a:r>
              <a:rPr dirty="0" sz="1750" spc="-175">
                <a:latin typeface="Tahoma"/>
                <a:cs typeface="Tahoma"/>
              </a:rPr>
              <a:t> </a:t>
            </a:r>
            <a:r>
              <a:rPr dirty="0" sz="1750" spc="70">
                <a:latin typeface="Tahoma"/>
                <a:cs typeface="Tahoma"/>
              </a:rPr>
              <a:t>C</a:t>
            </a:r>
            <a:r>
              <a:rPr dirty="0" sz="1750" spc="-160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Documentation </a:t>
            </a:r>
            <a:r>
              <a:rPr dirty="0" sz="1750">
                <a:latin typeface="Tahoma"/>
                <a:cs typeface="Tahoma"/>
              </a:rPr>
              <a:t>GitHub</a:t>
            </a:r>
            <a:r>
              <a:rPr dirty="0" sz="1750" spc="-90">
                <a:latin typeface="Tahoma"/>
                <a:cs typeface="Tahoma"/>
              </a:rPr>
              <a:t> /</a:t>
            </a:r>
            <a:r>
              <a:rPr dirty="0" sz="1750" spc="-80">
                <a:latin typeface="Tahoma"/>
                <a:cs typeface="Tahoma"/>
              </a:rPr>
              <a:t> </a:t>
            </a:r>
            <a:r>
              <a:rPr dirty="0" sz="1750">
                <a:latin typeface="Tahoma"/>
                <a:cs typeface="Tahoma"/>
              </a:rPr>
              <a:t>Code</a:t>
            </a:r>
            <a:r>
              <a:rPr dirty="0" sz="1750" spc="-114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repository </a:t>
            </a:r>
            <a:r>
              <a:rPr dirty="0" sz="1750">
                <a:latin typeface="Tahoma"/>
                <a:cs typeface="Tahoma"/>
              </a:rPr>
              <a:t>Documentation</a:t>
            </a:r>
            <a:r>
              <a:rPr dirty="0" sz="1750" spc="-150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structure</a:t>
            </a:r>
            <a:endParaRPr sz="1750">
              <a:latin typeface="Tahoma"/>
              <a:cs typeface="Tahoma"/>
            </a:endParaRPr>
          </a:p>
          <a:p>
            <a:pPr marL="12700" marR="1736089">
              <a:lnSpc>
                <a:spcPct val="100200"/>
              </a:lnSpc>
              <a:spcBef>
                <a:spcPts val="10"/>
              </a:spcBef>
            </a:pPr>
            <a:r>
              <a:rPr dirty="0" sz="1750" spc="-70">
                <a:latin typeface="Tahoma"/>
                <a:cs typeface="Tahoma"/>
              </a:rPr>
              <a:t>API</a:t>
            </a:r>
            <a:r>
              <a:rPr dirty="0" sz="1750" spc="-155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references Setup</a:t>
            </a:r>
            <a:r>
              <a:rPr dirty="0" sz="1750" spc="-140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instructions </a:t>
            </a:r>
            <a:r>
              <a:rPr dirty="0" sz="1750" spc="-85">
                <a:latin typeface="Tahoma"/>
                <a:cs typeface="Tahoma"/>
              </a:rPr>
              <a:t>Team</a:t>
            </a:r>
            <a:r>
              <a:rPr dirty="0" sz="1750" spc="-180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Contribution Member</a:t>
            </a:r>
            <a:r>
              <a:rPr dirty="0" sz="1750" spc="-160">
                <a:latin typeface="Tahoma"/>
                <a:cs typeface="Tahoma"/>
              </a:rPr>
              <a:t> </a:t>
            </a:r>
            <a:r>
              <a:rPr dirty="0" sz="1750" spc="-20">
                <a:latin typeface="Tahoma"/>
                <a:cs typeface="Tahoma"/>
              </a:rPr>
              <a:t>roles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50" spc="-10">
                <a:latin typeface="Tahoma"/>
                <a:cs typeface="Tahoma"/>
              </a:rPr>
              <a:t>Development</a:t>
            </a:r>
            <a:r>
              <a:rPr dirty="0" sz="1750" spc="-170">
                <a:latin typeface="Tahoma"/>
                <a:cs typeface="Tahoma"/>
              </a:rPr>
              <a:t> </a:t>
            </a:r>
            <a:r>
              <a:rPr dirty="0" sz="1750" spc="-10">
                <a:latin typeface="Tahoma"/>
                <a:cs typeface="Tahoma"/>
              </a:rPr>
              <a:t>timeline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3984" y="2692356"/>
            <a:ext cx="8616950" cy="3556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latin typeface="Calibri"/>
                <a:cs typeface="Calibri"/>
              </a:rPr>
              <a:t>Summary</a:t>
            </a:r>
            <a:endParaRPr sz="1550">
              <a:latin typeface="Calibri"/>
              <a:cs typeface="Calibri"/>
            </a:endParaRPr>
          </a:p>
          <a:p>
            <a:pPr marL="231775" marR="5080" indent="-219710">
              <a:lnSpc>
                <a:spcPts val="1930"/>
              </a:lnSpc>
              <a:spcBef>
                <a:spcPts val="1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This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project presents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Signal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Simulator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QNX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RTOS,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designed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demonstrate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real-</a:t>
            </a:r>
            <a:r>
              <a:rPr dirty="0" sz="1550" spc="-20">
                <a:latin typeface="Calibri"/>
                <a:cs typeface="Calibri"/>
              </a:rPr>
              <a:t>time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management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embedded</a:t>
            </a:r>
            <a:r>
              <a:rPr dirty="0" sz="1550" spc="1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system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concepts.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ts val="1810"/>
              </a:lnSpc>
              <a:spcBef>
                <a:spcPts val="20"/>
              </a:spcBef>
            </a:pPr>
            <a:r>
              <a:rPr dirty="0" sz="1550">
                <a:latin typeface="Calibri"/>
                <a:cs typeface="Calibri"/>
              </a:rPr>
              <a:t>Problem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Solved</a:t>
            </a:r>
            <a:endParaRPr sz="1550">
              <a:latin typeface="Calibri"/>
              <a:cs typeface="Calibri"/>
            </a:endParaRPr>
          </a:p>
          <a:p>
            <a:pPr marL="231775" marR="288290" indent="-219710">
              <a:lnSpc>
                <a:spcPts val="1660"/>
              </a:lnSpc>
              <a:spcBef>
                <a:spcPts val="17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system addresses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limitations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of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fixed-timing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signals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by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implementing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adaptive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signal </a:t>
            </a:r>
            <a:r>
              <a:rPr dirty="0" sz="1550">
                <a:latin typeface="Calibri"/>
                <a:cs typeface="Calibri"/>
              </a:rPr>
              <a:t>control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conditions.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ts val="1580"/>
              </a:lnSpc>
            </a:pPr>
            <a:r>
              <a:rPr dirty="0" u="sng" sz="15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r>
              <a:rPr dirty="0" u="sng" sz="155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5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Achievements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Real-time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signal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simulation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Modular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architecture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1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QNX</a:t>
            </a:r>
            <a:r>
              <a:rPr dirty="0" sz="1550" spc="12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processes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Adaptive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signal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timing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logic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Demonstration of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real-time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operating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system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capabilities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550" spc="-10" b="1">
                <a:latin typeface="Calibri"/>
                <a:cs typeface="Calibri"/>
              </a:rPr>
              <a:t>Benefits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Improved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management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simulation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Demonstrates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embedded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system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design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principles</a:t>
            </a:r>
            <a:endParaRPr sz="155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31775" algn="l"/>
              </a:tabLst>
            </a:pPr>
            <a:r>
              <a:rPr dirty="0" sz="1550">
                <a:latin typeface="Calibri"/>
                <a:cs typeface="Calibri"/>
              </a:rPr>
              <a:t>Scalable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model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smart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city</a:t>
            </a:r>
            <a:r>
              <a:rPr dirty="0" sz="1550" spc="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traffic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systems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279" y="3122141"/>
            <a:ext cx="6331585" cy="12280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3972560">
              <a:lnSpc>
                <a:spcPct val="101200"/>
              </a:lnSpc>
              <a:spcBef>
                <a:spcPts val="90"/>
              </a:spcBef>
            </a:pPr>
            <a:r>
              <a:rPr dirty="0" sz="2600" spc="-180"/>
              <a:t>Thank</a:t>
            </a:r>
            <a:r>
              <a:rPr dirty="0" sz="2600" spc="-215"/>
              <a:t> </a:t>
            </a:r>
            <a:r>
              <a:rPr dirty="0" sz="2600" spc="-25"/>
              <a:t>You </a:t>
            </a:r>
            <a:r>
              <a:rPr dirty="0" sz="2600" spc="-80"/>
              <a:t>Contact</a:t>
            </a:r>
            <a:r>
              <a:rPr dirty="0" sz="2600" spc="-180"/>
              <a:t> </a:t>
            </a:r>
            <a:r>
              <a:rPr dirty="0" sz="2600" spc="-75"/>
              <a:t>details</a:t>
            </a:r>
            <a:endParaRPr sz="260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2600" spc="-145"/>
              <a:t>Link</a:t>
            </a:r>
            <a:r>
              <a:rPr dirty="0" sz="2600" spc="-195"/>
              <a:t> </a:t>
            </a:r>
            <a:r>
              <a:rPr dirty="0" sz="2600" spc="-140"/>
              <a:t>for</a:t>
            </a:r>
            <a:r>
              <a:rPr dirty="0" sz="2600" spc="-180"/>
              <a:t> </a:t>
            </a:r>
            <a:r>
              <a:rPr dirty="0" sz="2600" spc="-155"/>
              <a:t>repository/ǪR</a:t>
            </a:r>
            <a:r>
              <a:rPr dirty="0" sz="2600" spc="-185"/>
              <a:t> </a:t>
            </a:r>
            <a:r>
              <a:rPr dirty="0" sz="2600" spc="-60"/>
              <a:t>Code</a:t>
            </a:r>
            <a:r>
              <a:rPr dirty="0" sz="2600" spc="-165"/>
              <a:t> </a:t>
            </a:r>
            <a:r>
              <a:rPr dirty="0" sz="2600" spc="-120"/>
              <a:t>of</a:t>
            </a:r>
            <a:r>
              <a:rPr dirty="0" sz="2600" spc="-195"/>
              <a:t> </a:t>
            </a:r>
            <a:r>
              <a:rPr dirty="0" sz="2600" spc="-95"/>
              <a:t>Repository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Iam Buckets</dc:creator>
  <dc:title>Microsoft PowerPoint - Q_eHACK(Team 1)</dc:title>
  <dcterms:created xsi:type="dcterms:W3CDTF">2026-04-18T05:34:11Z</dcterms:created>
  <dcterms:modified xsi:type="dcterms:W3CDTF">2026-04-18T05:34:11Z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LastSaved">
    <vt:filetime>2026-04-18T00:00:00Z</vt:filetime>
  </property>
  <property fmtid="{D5CDD505-2E9C-101B-9397-08002B2CF9AE}" pid="4" name="Producer">
    <vt:lpwstr>Microsoft: Print To PDF</vt:lpwstr>
  </property>
</Properties>
</file>